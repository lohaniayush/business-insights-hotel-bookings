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305" r:id="rId4"/>
    <p:sldId id="293" r:id="rId5"/>
    <p:sldId id="306" r:id="rId6"/>
    <p:sldId id="304" r:id="rId7"/>
    <p:sldId id="308" r:id="rId8"/>
    <p:sldId id="307" r:id="rId9"/>
    <p:sldId id="309" r:id="rId10"/>
    <p:sldId id="310" r:id="rId11"/>
    <p:sldId id="311" r:id="rId12"/>
    <p:sldId id="312" r:id="rId13"/>
    <p:sldId id="31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D93AD4-47C4-CB9F-40CE-7C7A631C157A}" v="122" dt="2026-04-04T11:47:56.619"/>
    <p1510:client id="{2279CEB1-196E-4307-AFDB-8E472A1EACA9}" v="481" dt="2026-04-04T10:30:20.4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4641" autoAdjust="0"/>
  </p:normalViewPr>
  <p:slideViewPr>
    <p:cSldViewPr snapToGrid="0">
      <p:cViewPr varScale="1">
        <p:scale>
          <a:sx n="61" d="100"/>
          <a:sy n="61" d="100"/>
        </p:scale>
        <p:origin x="1493" y="58"/>
      </p:cViewPr>
      <p:guideLst/>
    </p:cSldViewPr>
  </p:slideViewPr>
  <p:outlineViewPr>
    <p:cViewPr>
      <p:scale>
        <a:sx n="33" d="100"/>
        <a:sy n="33" d="100"/>
      </p:scale>
      <p:origin x="0" y="-38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8D9F2-4064-465A-BBB5-92F925DF62D9}" type="datetimeFigureOut">
              <a:rPr lang="en-IN" smtClean="0"/>
              <a:t>04-04-2026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6571E3-5DCC-48E6-BC94-98B0AE24E344}" type="slidenum">
              <a:rPr lang="en-IN" smtClean="0"/>
              <a:t>‹#›</a:t>
            </a:fld>
            <a:endParaRPr lang="en-IN"/>
          </a:p>
        </p:txBody>
      </p:sp>
    </p:spTree>
    <p:extLst>
      <p:ext uri="{BB962C8B-B14F-4D97-AF65-F5344CB8AC3E}">
        <p14:creationId xmlns:p14="http://schemas.microsoft.com/office/powerpoint/2010/main" val="3767103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86571E3-5DCC-48E6-BC94-98B0AE24E344}" type="slidenum">
              <a:rPr lang="en-IN" smtClean="0"/>
              <a:t>1</a:t>
            </a:fld>
            <a:endParaRPr lang="en-IN"/>
          </a:p>
        </p:txBody>
      </p:sp>
    </p:spTree>
    <p:extLst>
      <p:ext uri="{BB962C8B-B14F-4D97-AF65-F5344CB8AC3E}">
        <p14:creationId xmlns:p14="http://schemas.microsoft.com/office/powerpoint/2010/main" val="2079663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0A5718-D40E-4D7C-AA34-45823DB1C107}" type="slidenum">
              <a:rPr lang="en-IN" smtClean="0"/>
              <a:t>2</a:t>
            </a:fld>
            <a:endParaRPr lang="en-IN"/>
          </a:p>
        </p:txBody>
      </p:sp>
    </p:spTree>
    <p:extLst>
      <p:ext uri="{BB962C8B-B14F-4D97-AF65-F5344CB8AC3E}">
        <p14:creationId xmlns:p14="http://schemas.microsoft.com/office/powerpoint/2010/main" val="869387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FC13-DDE2-75C1-2472-B7D7A48D6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C906C-AD50-3F8C-2A1E-D037AF82C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767178-7859-DD8F-ED6B-DA8C8E909A0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14951A6-22A1-E968-CC6C-CDED48006D95}"/>
              </a:ext>
            </a:extLst>
          </p:cNvPr>
          <p:cNvSpPr>
            <a:spLocks noGrp="1"/>
          </p:cNvSpPr>
          <p:nvPr>
            <p:ph type="sldNum" sz="quarter" idx="5"/>
          </p:nvPr>
        </p:nvSpPr>
        <p:spPr/>
        <p:txBody>
          <a:bodyPr/>
          <a:lstStyle/>
          <a:p>
            <a:fld id="{386571E3-5DCC-48E6-BC94-98B0AE24E344}" type="slidenum">
              <a:rPr lang="en-IN" smtClean="0"/>
              <a:t>3</a:t>
            </a:fld>
            <a:endParaRPr lang="en-IN"/>
          </a:p>
        </p:txBody>
      </p:sp>
    </p:spTree>
    <p:extLst>
      <p:ext uri="{BB962C8B-B14F-4D97-AF65-F5344CB8AC3E}">
        <p14:creationId xmlns:p14="http://schemas.microsoft.com/office/powerpoint/2010/main" val="1007519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86571E3-5DCC-48E6-BC94-98B0AE24E344}" type="slidenum">
              <a:rPr lang="en-IN" smtClean="0"/>
              <a:t>4</a:t>
            </a:fld>
            <a:endParaRPr lang="en-IN"/>
          </a:p>
        </p:txBody>
      </p:sp>
    </p:spTree>
    <p:extLst>
      <p:ext uri="{BB962C8B-B14F-4D97-AF65-F5344CB8AC3E}">
        <p14:creationId xmlns:p14="http://schemas.microsoft.com/office/powerpoint/2010/main" val="3891230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2A20E-68B0-0F4C-F3AF-B789FE740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FFDCE-2D7C-445A-89FB-2788440956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C3FB83-5597-D03E-18B0-9C628C7E9F3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79BAEA2-7A04-D3B7-DF08-E8274CFCA1B1}"/>
              </a:ext>
            </a:extLst>
          </p:cNvPr>
          <p:cNvSpPr>
            <a:spLocks noGrp="1"/>
          </p:cNvSpPr>
          <p:nvPr>
            <p:ph type="sldNum" sz="quarter" idx="5"/>
          </p:nvPr>
        </p:nvSpPr>
        <p:spPr/>
        <p:txBody>
          <a:bodyPr/>
          <a:lstStyle/>
          <a:p>
            <a:fld id="{386571E3-5DCC-48E6-BC94-98B0AE24E344}" type="slidenum">
              <a:rPr lang="en-IN" smtClean="0"/>
              <a:t>5</a:t>
            </a:fld>
            <a:endParaRPr lang="en-IN"/>
          </a:p>
        </p:txBody>
      </p:sp>
    </p:spTree>
    <p:extLst>
      <p:ext uri="{BB962C8B-B14F-4D97-AF65-F5344CB8AC3E}">
        <p14:creationId xmlns:p14="http://schemas.microsoft.com/office/powerpoint/2010/main" val="4287702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893A3-C3BF-F996-1DF3-6DF25CC3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7733E-8BE5-807A-B212-DF024A0044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E9B05-18B6-4F9F-318F-BC70DABFA0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053EDA-1BB6-2AF5-FA76-BEEC8858DD5D}"/>
              </a:ext>
            </a:extLst>
          </p:cNvPr>
          <p:cNvSpPr>
            <a:spLocks noGrp="1"/>
          </p:cNvSpPr>
          <p:nvPr>
            <p:ph type="sldNum" sz="quarter" idx="5"/>
          </p:nvPr>
        </p:nvSpPr>
        <p:spPr/>
        <p:txBody>
          <a:bodyPr/>
          <a:lstStyle/>
          <a:p>
            <a:fld id="{386571E3-5DCC-48E6-BC94-98B0AE24E344}" type="slidenum">
              <a:rPr lang="en-IN" smtClean="0"/>
              <a:t>6</a:t>
            </a:fld>
            <a:endParaRPr lang="en-IN"/>
          </a:p>
        </p:txBody>
      </p:sp>
    </p:spTree>
    <p:extLst>
      <p:ext uri="{BB962C8B-B14F-4D97-AF65-F5344CB8AC3E}">
        <p14:creationId xmlns:p14="http://schemas.microsoft.com/office/powerpoint/2010/main" val="1942607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EADC2-C6B4-923E-1977-67996DA27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8F242-8F99-C319-F1D7-336306F3EC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6B9B8-E162-570E-52F8-75A2D824BE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1ED0F4-7D96-3E1C-5E88-B7C3EE2B80C4}"/>
              </a:ext>
            </a:extLst>
          </p:cNvPr>
          <p:cNvSpPr>
            <a:spLocks noGrp="1"/>
          </p:cNvSpPr>
          <p:nvPr>
            <p:ph type="sldNum" sz="quarter" idx="5"/>
          </p:nvPr>
        </p:nvSpPr>
        <p:spPr/>
        <p:txBody>
          <a:bodyPr/>
          <a:lstStyle/>
          <a:p>
            <a:fld id="{386571E3-5DCC-48E6-BC94-98B0AE24E344}" type="slidenum">
              <a:rPr lang="en-IN" smtClean="0"/>
              <a:t>7</a:t>
            </a:fld>
            <a:endParaRPr lang="en-IN"/>
          </a:p>
        </p:txBody>
      </p:sp>
    </p:spTree>
    <p:extLst>
      <p:ext uri="{BB962C8B-B14F-4D97-AF65-F5344CB8AC3E}">
        <p14:creationId xmlns:p14="http://schemas.microsoft.com/office/powerpoint/2010/main" val="4004277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3DC79-BC60-2230-2615-7E35B9C5A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B707C-143A-9557-DB52-EABA8CAA1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3E8707-3776-0C63-D0DD-E8BC034262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388CFC-EA7D-AEF3-EA43-620F44A66E19}"/>
              </a:ext>
            </a:extLst>
          </p:cNvPr>
          <p:cNvSpPr>
            <a:spLocks noGrp="1"/>
          </p:cNvSpPr>
          <p:nvPr>
            <p:ph type="sldNum" sz="quarter" idx="5"/>
          </p:nvPr>
        </p:nvSpPr>
        <p:spPr/>
        <p:txBody>
          <a:bodyPr/>
          <a:lstStyle/>
          <a:p>
            <a:fld id="{386571E3-5DCC-48E6-BC94-98B0AE24E344}" type="slidenum">
              <a:rPr lang="en-IN" smtClean="0"/>
              <a:t>8</a:t>
            </a:fld>
            <a:endParaRPr lang="en-IN"/>
          </a:p>
        </p:txBody>
      </p:sp>
    </p:spTree>
    <p:extLst>
      <p:ext uri="{BB962C8B-B14F-4D97-AF65-F5344CB8AC3E}">
        <p14:creationId xmlns:p14="http://schemas.microsoft.com/office/powerpoint/2010/main" val="4044651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86267-517A-7C22-1778-162535CAA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E9366-0C5A-BB4A-6000-7F62E051F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F6C65-AA3C-4BD2-7656-2DEC649BA7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474F989-9A1B-0CFB-BD8B-778FBA73B810}"/>
              </a:ext>
            </a:extLst>
          </p:cNvPr>
          <p:cNvSpPr>
            <a:spLocks noGrp="1"/>
          </p:cNvSpPr>
          <p:nvPr>
            <p:ph type="sldNum" sz="quarter" idx="5"/>
          </p:nvPr>
        </p:nvSpPr>
        <p:spPr/>
        <p:txBody>
          <a:bodyPr/>
          <a:lstStyle/>
          <a:p>
            <a:fld id="{386571E3-5DCC-48E6-BC94-98B0AE24E344}" type="slidenum">
              <a:rPr lang="en-IN" smtClean="0"/>
              <a:t>9</a:t>
            </a:fld>
            <a:endParaRPr lang="en-IN"/>
          </a:p>
        </p:txBody>
      </p:sp>
    </p:spTree>
    <p:extLst>
      <p:ext uri="{BB962C8B-B14F-4D97-AF65-F5344CB8AC3E}">
        <p14:creationId xmlns:p14="http://schemas.microsoft.com/office/powerpoint/2010/main" val="4003744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1D435-CF3B-586A-D9AC-ED17B3D5D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F5ADC-0D21-7919-A7F0-C4A16E9FE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F83EB-A80E-9466-E630-F399BF2EB1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3BB09F-109F-A090-1B01-3FBD5237927D}"/>
              </a:ext>
            </a:extLst>
          </p:cNvPr>
          <p:cNvSpPr>
            <a:spLocks noGrp="1"/>
          </p:cNvSpPr>
          <p:nvPr>
            <p:ph type="sldNum" sz="quarter" idx="5"/>
          </p:nvPr>
        </p:nvSpPr>
        <p:spPr/>
        <p:txBody>
          <a:bodyPr/>
          <a:lstStyle/>
          <a:p>
            <a:fld id="{386571E3-5DCC-48E6-BC94-98B0AE24E344}" type="slidenum">
              <a:rPr lang="en-IN" smtClean="0"/>
              <a:t>10</a:t>
            </a:fld>
            <a:endParaRPr lang="en-IN"/>
          </a:p>
        </p:txBody>
      </p:sp>
    </p:spTree>
    <p:extLst>
      <p:ext uri="{BB962C8B-B14F-4D97-AF65-F5344CB8AC3E}">
        <p14:creationId xmlns:p14="http://schemas.microsoft.com/office/powerpoint/2010/main" val="2421062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9732E-0D09-DF76-F30C-959E3F36E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E6917-AD41-B26F-D090-AF1ABDEAC0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570291-D60F-83C0-D9E7-6E4892A3D7C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25587F2-61F6-20FF-FCD0-44B5F9821C72}"/>
              </a:ext>
            </a:extLst>
          </p:cNvPr>
          <p:cNvSpPr>
            <a:spLocks noGrp="1"/>
          </p:cNvSpPr>
          <p:nvPr>
            <p:ph type="sldNum" sz="quarter" idx="5"/>
          </p:nvPr>
        </p:nvSpPr>
        <p:spPr/>
        <p:txBody>
          <a:bodyPr/>
          <a:lstStyle/>
          <a:p>
            <a:fld id="{386571E3-5DCC-48E6-BC94-98B0AE24E344}" type="slidenum">
              <a:rPr lang="en-IN" smtClean="0"/>
              <a:t>11</a:t>
            </a:fld>
            <a:endParaRPr lang="en-IN"/>
          </a:p>
        </p:txBody>
      </p:sp>
    </p:spTree>
    <p:extLst>
      <p:ext uri="{BB962C8B-B14F-4D97-AF65-F5344CB8AC3E}">
        <p14:creationId xmlns:p14="http://schemas.microsoft.com/office/powerpoint/2010/main" val="3604588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E7BC6-EA43-429A-7D59-E2625452F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EE838-ED5C-376E-AC38-4939651CE3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0C46FB-C8B4-B815-BB21-1ECCB4F6B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EE5F44-6714-44D4-7118-38EE16119851}"/>
              </a:ext>
            </a:extLst>
          </p:cNvPr>
          <p:cNvSpPr>
            <a:spLocks noGrp="1"/>
          </p:cNvSpPr>
          <p:nvPr>
            <p:ph type="sldNum" sz="quarter" idx="5"/>
          </p:nvPr>
        </p:nvSpPr>
        <p:spPr/>
        <p:txBody>
          <a:bodyPr/>
          <a:lstStyle/>
          <a:p>
            <a:fld id="{386571E3-5DCC-48E6-BC94-98B0AE24E344}" type="slidenum">
              <a:rPr lang="en-IN" smtClean="0"/>
              <a:t>12</a:t>
            </a:fld>
            <a:endParaRPr lang="en-IN"/>
          </a:p>
        </p:txBody>
      </p:sp>
    </p:spTree>
    <p:extLst>
      <p:ext uri="{BB962C8B-B14F-4D97-AF65-F5344CB8AC3E}">
        <p14:creationId xmlns:p14="http://schemas.microsoft.com/office/powerpoint/2010/main" val="3699903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67B15-E181-A1EE-5EC7-10FB52A8C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72FC7-BFBE-FB8A-2A78-B346F0467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133A4-8CB2-2E23-8849-D3F7A9648B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DBDACE-457A-F581-1629-D9C33E81C182}"/>
              </a:ext>
            </a:extLst>
          </p:cNvPr>
          <p:cNvSpPr>
            <a:spLocks noGrp="1"/>
          </p:cNvSpPr>
          <p:nvPr>
            <p:ph type="sldNum" sz="quarter" idx="5"/>
          </p:nvPr>
        </p:nvSpPr>
        <p:spPr/>
        <p:txBody>
          <a:bodyPr/>
          <a:lstStyle/>
          <a:p>
            <a:fld id="{386571E3-5DCC-48E6-BC94-98B0AE24E344}" type="slidenum">
              <a:rPr lang="en-IN" smtClean="0"/>
              <a:t>13</a:t>
            </a:fld>
            <a:endParaRPr lang="en-IN"/>
          </a:p>
        </p:txBody>
      </p:sp>
    </p:spTree>
    <p:extLst>
      <p:ext uri="{BB962C8B-B14F-4D97-AF65-F5344CB8AC3E}">
        <p14:creationId xmlns:p14="http://schemas.microsoft.com/office/powerpoint/2010/main" val="1378171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77A1-5B60-C4B5-CC6C-E8B9365ED2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F8E922C-5EFA-4053-E27D-5580B252F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3A19D4-A2DC-AC11-C026-4601E7DB56EA}"/>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5" name="Footer Placeholder 4">
            <a:extLst>
              <a:ext uri="{FF2B5EF4-FFF2-40B4-BE49-F238E27FC236}">
                <a16:creationId xmlns:a16="http://schemas.microsoft.com/office/drawing/2014/main" id="{684DCF49-C46F-A5AE-6EBC-8669DB180C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06DA03-2D58-A441-5248-9F89DBE5865B}"/>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186769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0F0D-DFE5-4C47-7A08-296EAB45E6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026BE9-E631-353A-80EF-CD5019DCC6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BBC339-8C18-684F-892B-57F1FB934E52}"/>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5" name="Footer Placeholder 4">
            <a:extLst>
              <a:ext uri="{FF2B5EF4-FFF2-40B4-BE49-F238E27FC236}">
                <a16:creationId xmlns:a16="http://schemas.microsoft.com/office/drawing/2014/main" id="{65D4108C-146F-56BB-1D69-5DA864CABC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CF414B-2F75-58A8-C6E3-60192072B838}"/>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3878843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180E2-1399-B633-17B2-5DA4408B30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5B71F8-A8EB-6B69-E87A-C36B7F1AD1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9EA591-3F6B-B88A-F6A5-5E3BF22DAEB0}"/>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5" name="Footer Placeholder 4">
            <a:extLst>
              <a:ext uri="{FF2B5EF4-FFF2-40B4-BE49-F238E27FC236}">
                <a16:creationId xmlns:a16="http://schemas.microsoft.com/office/drawing/2014/main" id="{7B1C0A97-0B58-4301-775D-8712263ACB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7CCC8E-E26E-5D8A-8F01-4130F8F7D11F}"/>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2965184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08A7-89E8-C659-9D34-6266D15BC4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80305E-9581-3907-D647-2E531EF617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492218-C627-733F-8E6A-71DDF28240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2F73D8-C044-B7AC-97EC-11044A84FBD4}"/>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6" name="Footer Placeholder 5">
            <a:extLst>
              <a:ext uri="{FF2B5EF4-FFF2-40B4-BE49-F238E27FC236}">
                <a16:creationId xmlns:a16="http://schemas.microsoft.com/office/drawing/2014/main" id="{4351A6FB-2B87-A842-7630-AA03FFBBB2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B20D3B-B92C-390B-AA41-16E3F81BFC49}"/>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2899987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8889B-8F1D-AAEF-04A7-66CB65AD51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62C2B4-C940-48B0-A435-07BE597DB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5FB79B-486E-09F2-5BC7-3E081F088A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D4F0AD-14C6-854A-2C7E-FB6C46FA79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00BAA2-8347-A802-BBAA-CB9215429D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7439E6-DB39-835B-637E-E072F2913833}"/>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8" name="Footer Placeholder 7">
            <a:extLst>
              <a:ext uri="{FF2B5EF4-FFF2-40B4-BE49-F238E27FC236}">
                <a16:creationId xmlns:a16="http://schemas.microsoft.com/office/drawing/2014/main" id="{F2A50BDF-C491-F119-BBAC-858643DD27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D06DF6F-0F0A-A51F-4BE7-E99280830F19}"/>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1629831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CFBB-96CA-0531-6387-06AF81034D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F1253A-6C20-FF71-A95E-D43F5AEECF67}"/>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4" name="Footer Placeholder 3">
            <a:extLst>
              <a:ext uri="{FF2B5EF4-FFF2-40B4-BE49-F238E27FC236}">
                <a16:creationId xmlns:a16="http://schemas.microsoft.com/office/drawing/2014/main" id="{6D5AD6BA-4AF2-8DEC-18F0-BEDC3B1E05D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AFAE6C-5581-3A1C-1C38-AF3FB75559D5}"/>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4031058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08F9F-6741-1CC2-1218-CEBDBAAF8093}"/>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3" name="Footer Placeholder 2">
            <a:extLst>
              <a:ext uri="{FF2B5EF4-FFF2-40B4-BE49-F238E27FC236}">
                <a16:creationId xmlns:a16="http://schemas.microsoft.com/office/drawing/2014/main" id="{A0F7FB72-217F-3903-8026-7A2B3595A90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AC0FAB-768C-A3E9-84D0-FD3E4300FC75}"/>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1527014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0BDC6-1E9F-461D-2D84-0173D4BDFD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2F9DB1-D057-5D09-F799-D83CF9C436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5B3234E-306F-BD54-AEB7-B7A1115CA2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719B70-9FC9-A19D-C21B-C7B133D6B167}"/>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6" name="Footer Placeholder 5">
            <a:extLst>
              <a:ext uri="{FF2B5EF4-FFF2-40B4-BE49-F238E27FC236}">
                <a16:creationId xmlns:a16="http://schemas.microsoft.com/office/drawing/2014/main" id="{D0D44352-B2C2-89A4-F005-1DED1A1CD4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232308-AA07-47FE-E325-8A2E43BD575A}"/>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3893010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FA56E-01AD-8923-C72B-260349DB29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E79496-8799-FB49-0EEA-DE0E3D2B43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B5DB02-4E2F-147B-37E7-F1782EA1D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864421-CAA3-8A4F-8316-E7EE0006817C}"/>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6" name="Footer Placeholder 5">
            <a:extLst>
              <a:ext uri="{FF2B5EF4-FFF2-40B4-BE49-F238E27FC236}">
                <a16:creationId xmlns:a16="http://schemas.microsoft.com/office/drawing/2014/main" id="{F1750F29-5328-17B6-2DE1-B34DD21E50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CE6A04-E1C3-F9DB-3288-DD6468DFFC41}"/>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2772053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E2C1-3FFC-2368-750D-F9E6237453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AF322F-8B79-FEC0-32DB-A48E77D296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4CAA38-ACD9-ACE8-F3FE-7D6D3CC89FAA}"/>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5" name="Footer Placeholder 4">
            <a:extLst>
              <a:ext uri="{FF2B5EF4-FFF2-40B4-BE49-F238E27FC236}">
                <a16:creationId xmlns:a16="http://schemas.microsoft.com/office/drawing/2014/main" id="{C2F5AB6F-AB80-F6B8-820B-A0FB392C16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B15CC3-8698-F63C-1987-D79A32984665}"/>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119181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3144AD-A592-49AE-5B51-88E8632472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ABDD9D-856B-CAF4-EE5A-7C2129E0C1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AF6797-2A02-D365-FA8C-F239154EC6C8}"/>
              </a:ext>
            </a:extLst>
          </p:cNvPr>
          <p:cNvSpPr>
            <a:spLocks noGrp="1"/>
          </p:cNvSpPr>
          <p:nvPr>
            <p:ph type="dt" sz="half" idx="10"/>
          </p:nvPr>
        </p:nvSpPr>
        <p:spPr/>
        <p:txBody>
          <a:bodyPr/>
          <a:lstStyle/>
          <a:p>
            <a:fld id="{23D085A4-B8BC-4DBD-A306-683DEDE22620}" type="datetimeFigureOut">
              <a:rPr lang="en-IN" smtClean="0"/>
              <a:t>04-04-2026</a:t>
            </a:fld>
            <a:endParaRPr lang="en-IN"/>
          </a:p>
        </p:txBody>
      </p:sp>
      <p:sp>
        <p:nvSpPr>
          <p:cNvPr id="5" name="Footer Placeholder 4">
            <a:extLst>
              <a:ext uri="{FF2B5EF4-FFF2-40B4-BE49-F238E27FC236}">
                <a16:creationId xmlns:a16="http://schemas.microsoft.com/office/drawing/2014/main" id="{22D748A0-995C-C64C-EBF7-4F212A20CE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465A64-3C9F-F88B-49E9-BB45DF000189}"/>
              </a:ext>
            </a:extLst>
          </p:cNvPr>
          <p:cNvSpPr>
            <a:spLocks noGrp="1"/>
          </p:cNvSpPr>
          <p:nvPr>
            <p:ph type="sldNum" sz="quarter" idx="12"/>
          </p:nvPr>
        </p:nvSpPr>
        <p:spPr/>
        <p:txBody>
          <a:bodyPr/>
          <a:lstStyle/>
          <a:p>
            <a:fld id="{147F48D5-EB01-4B31-BC7C-8F558A254CC6}" type="slidenum">
              <a:rPr lang="en-IN" smtClean="0"/>
              <a:t>‹#›</a:t>
            </a:fld>
            <a:endParaRPr lang="en-IN"/>
          </a:p>
        </p:txBody>
      </p:sp>
    </p:spTree>
    <p:extLst>
      <p:ext uri="{BB962C8B-B14F-4D97-AF65-F5344CB8AC3E}">
        <p14:creationId xmlns:p14="http://schemas.microsoft.com/office/powerpoint/2010/main" val="2743563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C7FDF9-4055-E15E-B82A-A2BED75588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8D1728-2AC7-3F3D-9B75-20BEDFC03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DD97D4-B62C-9E01-57FF-A47CC0810D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D085A4-B8BC-4DBD-A306-683DEDE22620}" type="datetimeFigureOut">
              <a:rPr lang="en-IN" smtClean="0"/>
              <a:t>04-04-2026</a:t>
            </a:fld>
            <a:endParaRPr lang="en-IN"/>
          </a:p>
        </p:txBody>
      </p:sp>
      <p:sp>
        <p:nvSpPr>
          <p:cNvPr id="5" name="Footer Placeholder 4">
            <a:extLst>
              <a:ext uri="{FF2B5EF4-FFF2-40B4-BE49-F238E27FC236}">
                <a16:creationId xmlns:a16="http://schemas.microsoft.com/office/drawing/2014/main" id="{3F0464CD-3864-A92A-EE68-766D4D72EB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E0D5574-8B8E-02AE-9626-46F0A72337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7F48D5-EB01-4B31-BC7C-8F558A254CC6}" type="slidenum">
              <a:rPr lang="en-IN" smtClean="0"/>
              <a:t>‹#›</a:t>
            </a:fld>
            <a:endParaRPr lang="en-IN"/>
          </a:p>
        </p:txBody>
      </p:sp>
    </p:spTree>
    <p:extLst>
      <p:ext uri="{BB962C8B-B14F-4D97-AF65-F5344CB8AC3E}">
        <p14:creationId xmlns:p14="http://schemas.microsoft.com/office/powerpoint/2010/main" val="359882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B6CE8A4-8738-D9FB-2438-6D375FEF1AFD}"/>
              </a:ext>
            </a:extLst>
          </p:cNvPr>
          <p:cNvSpPr>
            <a:spLocks noGrp="1"/>
          </p:cNvSpPr>
          <p:nvPr>
            <p:ph type="ctrTitle"/>
          </p:nvPr>
        </p:nvSpPr>
        <p:spPr>
          <a:xfrm>
            <a:off x="1314824" y="735106"/>
            <a:ext cx="10053763" cy="2928470"/>
          </a:xfrm>
        </p:spPr>
        <p:txBody>
          <a:bodyPr vert="horz" lIns="91440" tIns="45720" rIns="91440" bIns="45720" rtlCol="0" anchor="b">
            <a:normAutofit/>
          </a:bodyPr>
          <a:lstStyle/>
          <a:p>
            <a:pPr algn="l"/>
            <a:r>
              <a:rPr lang="en-IN" sz="4800">
                <a:solidFill>
                  <a:srgbClr val="FFFFFF"/>
                </a:solidFill>
                <a:latin typeface="Times New Roman"/>
                <a:ea typeface="+mj-lt"/>
                <a:cs typeface="Times New Roman"/>
              </a:rPr>
              <a:t>Hotel Booking Data Analysis: Customer Behaviour, Revenue &amp; Cancellation Insights</a:t>
            </a:r>
            <a:endParaRPr lang="en-US" sz="4800">
              <a:solidFill>
                <a:srgbClr val="FFFFFF"/>
              </a:solidFill>
              <a:latin typeface="Times New Roman"/>
              <a:cs typeface="Times New Roman"/>
            </a:endParaRPr>
          </a:p>
        </p:txBody>
      </p:sp>
      <p:sp>
        <p:nvSpPr>
          <p:cNvPr id="3" name="Subtitle 2">
            <a:extLst>
              <a:ext uri="{FF2B5EF4-FFF2-40B4-BE49-F238E27FC236}">
                <a16:creationId xmlns:a16="http://schemas.microsoft.com/office/drawing/2014/main" id="{2465EEE9-B8C3-6F62-B632-EB96E414CC5B}"/>
              </a:ext>
            </a:extLst>
          </p:cNvPr>
          <p:cNvSpPr>
            <a:spLocks noGrp="1"/>
          </p:cNvSpPr>
          <p:nvPr>
            <p:ph type="subTitle" idx="1"/>
          </p:nvPr>
        </p:nvSpPr>
        <p:spPr>
          <a:xfrm>
            <a:off x="454817" y="4325068"/>
            <a:ext cx="10005951" cy="1458258"/>
          </a:xfrm>
        </p:spPr>
        <p:txBody>
          <a:bodyPr vert="horz" lIns="91440" tIns="45720" rIns="91440" bIns="45720" rtlCol="0" anchor="ctr">
            <a:normAutofit/>
          </a:bodyPr>
          <a:lstStyle/>
          <a:p>
            <a:pPr algn="l"/>
            <a:r>
              <a:rPr lang="en-IN" sz="2000">
                <a:latin typeface="Times New Roman"/>
                <a:cs typeface="Times New Roman"/>
              </a:rPr>
              <a:t>Ayush Kumar Lohani</a:t>
            </a:r>
          </a:p>
          <a:p>
            <a:pPr algn="l"/>
            <a:r>
              <a:rPr lang="en-IN" sz="2000">
                <a:latin typeface="Times New Roman"/>
                <a:cs typeface="Times New Roman"/>
              </a:rPr>
              <a:t>    ayushlohani58@gmail.com</a:t>
            </a:r>
            <a:endParaRPr lang="en-IN" sz="2000">
              <a:latin typeface="Times New Roman" panose="02020603050405020304" pitchFamily="18" charset="0"/>
              <a:cs typeface="Times New Roman" panose="02020603050405020304" pitchFamily="18" charset="0"/>
            </a:endParaRPr>
          </a:p>
        </p:txBody>
      </p:sp>
      <p:pic>
        <p:nvPicPr>
          <p:cNvPr id="4" name="Graphic 3" descr="Envelope with solid fill">
            <a:extLst>
              <a:ext uri="{FF2B5EF4-FFF2-40B4-BE49-F238E27FC236}">
                <a16:creationId xmlns:a16="http://schemas.microsoft.com/office/drawing/2014/main" id="{963486CE-C212-686F-DEE1-731813EB8F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 y="5105400"/>
            <a:ext cx="304800" cy="304800"/>
          </a:xfrm>
          <a:prstGeom prst="rect">
            <a:avLst/>
          </a:prstGeom>
        </p:spPr>
      </p:pic>
    </p:spTree>
    <p:extLst>
      <p:ext uri="{BB962C8B-B14F-4D97-AF65-F5344CB8AC3E}">
        <p14:creationId xmlns:p14="http://schemas.microsoft.com/office/powerpoint/2010/main" val="2765970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4A372A-E4D5-E4FB-E75D-4698E2921B15}"/>
              </a:ext>
            </a:extLst>
          </p:cNvPr>
          <p:cNvSpPr>
            <a:spLocks noGrp="1"/>
          </p:cNvSpPr>
          <p:nvPr>
            <p:ph type="title"/>
          </p:nvPr>
        </p:nvSpPr>
        <p:spPr>
          <a:xfrm>
            <a:off x="793662" y="386930"/>
            <a:ext cx="10066122" cy="1298448"/>
          </a:xfrm>
        </p:spPr>
        <p:txBody>
          <a:bodyPr anchor="b">
            <a:normAutofit/>
          </a:bodyPr>
          <a:lstStyle/>
          <a:p>
            <a:r>
              <a:rPr lang="en-IN" sz="4800" b="1">
                <a:latin typeface="Times New Roman" panose="02020603050405020304" pitchFamily="18" charset="0"/>
                <a:cs typeface="Times New Roman" panose="02020603050405020304" pitchFamily="18" charset="0"/>
              </a:rPr>
              <a:t>Introduction</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453B8C4-49CB-BA60-906F-1C8819EF7A10}"/>
              </a:ext>
            </a:extLst>
          </p:cNvPr>
          <p:cNvSpPr>
            <a:spLocks noGrp="1"/>
          </p:cNvSpPr>
          <p:nvPr>
            <p:ph idx="1"/>
          </p:nvPr>
        </p:nvSpPr>
        <p:spPr>
          <a:xfrm>
            <a:off x="793661" y="2599509"/>
            <a:ext cx="5445298" cy="3639450"/>
          </a:xfrm>
        </p:spPr>
        <p:txBody>
          <a:bodyPr anchor="ctr">
            <a:normAutofit/>
          </a:bodyPr>
          <a:lstStyle/>
          <a:p>
            <a:r>
              <a:rPr lang="en-US" sz="1400">
                <a:latin typeface="Times New Roman"/>
                <a:ea typeface="+mn-lt"/>
                <a:cs typeface="Times New Roman"/>
              </a:rPr>
              <a:t>This project analyzes hotel booking data to understand customer behavior, revenue patterns, and cancellation trends. The objective is to identify key insights across booking channels, room types, star ratings, and monthly trends to support better business decision-making.</a:t>
            </a:r>
            <a:br>
              <a:rPr lang="en-US" sz="1400">
                <a:latin typeface="Times New Roman"/>
                <a:cs typeface="Times New Roman"/>
              </a:rPr>
            </a:br>
            <a:endParaRPr lang="en-US" sz="1400">
              <a:latin typeface="Times New Roman"/>
              <a:cs typeface="Times New Roman"/>
            </a:endParaRPr>
          </a:p>
          <a:p>
            <a:r>
              <a:rPr lang="en-US" sz="1400">
                <a:latin typeface="Times New Roman"/>
                <a:ea typeface="+mn-lt"/>
                <a:cs typeface="Times New Roman"/>
              </a:rPr>
              <a:t>Using Python, the dataset was processed and visualized through various charts to uncover meaningful patterns in bookings, revenue, and cancellations. These insights help in understanding what factors influence customer choices and overall business performance.</a:t>
            </a:r>
            <a:br>
              <a:rPr lang="en-US" sz="1400">
                <a:latin typeface="Times New Roman"/>
                <a:cs typeface="Times New Roman"/>
              </a:rPr>
            </a:br>
            <a:endParaRPr lang="en-US" sz="1400">
              <a:latin typeface="Times New Roman"/>
              <a:cs typeface="Times New Roman"/>
            </a:endParaRPr>
          </a:p>
          <a:p>
            <a:r>
              <a:rPr lang="en-US" sz="1400">
                <a:latin typeface="Times New Roman"/>
                <a:ea typeface="+mn-lt"/>
                <a:cs typeface="Times New Roman"/>
              </a:rPr>
              <a:t>The analysis aims to provide actionable recommendations to reduce cancellations, optimize pricing strategies, and improve revenue and customer retention.</a:t>
            </a:r>
            <a:endParaRPr lang="en-US" sz="1400">
              <a:latin typeface="Times New Roman"/>
              <a:cs typeface="Times New Roman"/>
            </a:endParaRPr>
          </a:p>
          <a:p>
            <a:endParaRPr lang="en-US" sz="140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5701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DBC0B3-DC14-C845-BE45-567CD20AAEF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531D1EB-F901-CAE1-60CF-03E236D65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A38A3C-D2A8-421A-61AF-3E9841254091}"/>
              </a:ext>
            </a:extLst>
          </p:cNvPr>
          <p:cNvSpPr>
            <a:spLocks noGrp="1"/>
          </p:cNvSpPr>
          <p:nvPr>
            <p:ph type="title"/>
          </p:nvPr>
        </p:nvSpPr>
        <p:spPr>
          <a:xfrm>
            <a:off x="793662" y="169216"/>
            <a:ext cx="10066122" cy="1537933"/>
          </a:xfrm>
        </p:spPr>
        <p:txBody>
          <a:bodyPr anchor="b">
            <a:normAutofit/>
          </a:bodyPr>
          <a:lstStyle/>
          <a:p>
            <a:r>
              <a:rPr lang="en-IN" b="1" dirty="0">
                <a:latin typeface="Times New Roman"/>
                <a:cs typeface="Times New Roman"/>
              </a:rPr>
              <a:t>Meaningful Trends in the Data</a:t>
            </a:r>
            <a:br>
              <a:rPr lang="en-IN" b="1" dirty="0">
                <a:latin typeface="Times New Roman"/>
                <a:cs typeface="Times New Roman"/>
              </a:rPr>
            </a:br>
            <a:r>
              <a:rPr lang="en-IN" sz="2400" b="1" dirty="0">
                <a:solidFill>
                  <a:schemeClr val="tx2"/>
                </a:solidFill>
                <a:latin typeface="Times New Roman"/>
                <a:cs typeface="Times New Roman"/>
              </a:rPr>
              <a:t>Average Booking Value Analysis</a:t>
            </a:r>
            <a:endParaRPr lang="en-IN" sz="2400" b="1" dirty="0">
              <a:solidFill>
                <a:schemeClr val="tx2"/>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E80EB50C-F3A6-50DD-35A9-392EA5C88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6A5BA3-BEED-FC1C-5308-2A6C450D9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2E4912-C613-0762-8FE4-B7ED04E3CFD3}"/>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ACBACB3-A981-8614-CC83-C1305D5B59B7}"/>
              </a:ext>
            </a:extLst>
          </p:cNvPr>
          <p:cNvPicPr>
            <a:picLocks noChangeAspect="1"/>
          </p:cNvPicPr>
          <p:nvPr/>
        </p:nvPicPr>
        <p:blipFill>
          <a:blip r:embed="rId3"/>
          <a:srcRect l="519" t="-200" r="-16" b="815"/>
          <a:stretch>
            <a:fillRect/>
          </a:stretch>
        </p:blipFill>
        <p:spPr>
          <a:xfrm>
            <a:off x="5731445" y="2392953"/>
            <a:ext cx="5645288" cy="3487465"/>
          </a:xfrm>
          <a:prstGeom prst="rect">
            <a:avLst/>
          </a:prstGeom>
        </p:spPr>
      </p:pic>
      <p:sp>
        <p:nvSpPr>
          <p:cNvPr id="15" name="Rectangle 14">
            <a:extLst>
              <a:ext uri="{FF2B5EF4-FFF2-40B4-BE49-F238E27FC236}">
                <a16:creationId xmlns:a16="http://schemas.microsoft.com/office/drawing/2014/main" id="{BFBAA7D1-C6AA-D99B-775B-7C5F1EFEC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82A44E6-ACD9-5C90-5C94-C9260302D94D}"/>
              </a:ext>
            </a:extLst>
          </p:cNvPr>
          <p:cNvSpPr txBox="1"/>
          <p:nvPr/>
        </p:nvSpPr>
        <p:spPr>
          <a:xfrm>
            <a:off x="260959" y="2604370"/>
            <a:ext cx="517742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a:t>Average booking value is almost similar across room types (~25K), showing pricing is not strongly differentiated by room category.</a:t>
            </a:r>
            <a:r>
              <a:rPr lang="en-US" dirty="0"/>
              <a:t> </a:t>
            </a:r>
          </a:p>
          <a:p>
            <a:endParaRPr lang="en-US" dirty="0"/>
          </a:p>
          <a:p>
            <a:pPr>
              <a:buFont typeface=""/>
              <a:buChar char="•"/>
            </a:pPr>
            <a:r>
              <a:rPr lang="en-US" b="1" dirty="0"/>
              <a:t>Standard rooms slightly lead in value (~25.1K), suggesting they are booked more frequently rather than being premium-driven.</a:t>
            </a:r>
          </a:p>
          <a:p>
            <a:pPr algn="ctr"/>
            <a:endParaRPr lang="en-US"/>
          </a:p>
        </p:txBody>
      </p:sp>
    </p:spTree>
    <p:extLst>
      <p:ext uri="{BB962C8B-B14F-4D97-AF65-F5344CB8AC3E}">
        <p14:creationId xmlns:p14="http://schemas.microsoft.com/office/powerpoint/2010/main" val="1058153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D205F8-2539-5680-C0B1-E7E6F59FD133}"/>
              </a:ext>
            </a:extLst>
          </p:cNvPr>
          <p:cNvSpPr>
            <a:spLocks noGrp="1"/>
          </p:cNvSpPr>
          <p:nvPr>
            <p:ph type="title"/>
          </p:nvPr>
        </p:nvSpPr>
        <p:spPr>
          <a:xfrm>
            <a:off x="793662" y="169216"/>
            <a:ext cx="10066122" cy="1537933"/>
          </a:xfrm>
        </p:spPr>
        <p:txBody>
          <a:bodyPr anchor="b">
            <a:normAutofit/>
          </a:bodyPr>
          <a:lstStyle/>
          <a:p>
            <a:r>
              <a:rPr lang="en-IN" b="1">
                <a:latin typeface="Times New Roman"/>
                <a:cs typeface="Times New Roman"/>
              </a:rPr>
              <a:t>Meaningful Trends in the Data</a:t>
            </a:r>
            <a:br>
              <a:rPr lang="en-IN" b="1">
                <a:latin typeface="Times New Roman"/>
                <a:cs typeface="Times New Roman"/>
              </a:rPr>
            </a:br>
            <a:r>
              <a:rPr lang="en-IN" sz="2400" b="1">
                <a:solidFill>
                  <a:schemeClr val="tx2"/>
                </a:solidFill>
                <a:latin typeface="Times New Roman"/>
                <a:cs typeface="Times New Roman"/>
              </a:rPr>
              <a:t>Average Booking Value Analysis</a:t>
            </a:r>
            <a:endParaRPr lang="en-IN" sz="2400" b="1">
              <a:solidFill>
                <a:schemeClr val="tx2"/>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81D76D-09F1-2BCF-E093-BF5B007A742B}"/>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showing the average price of a channel&#10;&#10;AI-generated content may be incorrect.">
            <a:extLst>
              <a:ext uri="{FF2B5EF4-FFF2-40B4-BE49-F238E27FC236}">
                <a16:creationId xmlns:a16="http://schemas.microsoft.com/office/drawing/2014/main" id="{63806B41-60E7-4D89-DD73-59D532E351CB}"/>
              </a:ext>
            </a:extLst>
          </p:cNvPr>
          <p:cNvPicPr>
            <a:picLocks noChangeAspect="1"/>
          </p:cNvPicPr>
          <p:nvPr/>
        </p:nvPicPr>
        <p:blipFill>
          <a:blip r:embed="rId3"/>
          <a:stretch>
            <a:fillRect/>
          </a:stretch>
        </p:blipFill>
        <p:spPr>
          <a:xfrm>
            <a:off x="5724525" y="2390775"/>
            <a:ext cx="5715000" cy="3371850"/>
          </a:xfrm>
          <a:prstGeom prst="rect">
            <a:avLst/>
          </a:prstGeom>
        </p:spPr>
      </p:pic>
      <p:sp>
        <p:nvSpPr>
          <p:cNvPr id="6" name="TextBox 5">
            <a:extLst>
              <a:ext uri="{FF2B5EF4-FFF2-40B4-BE49-F238E27FC236}">
                <a16:creationId xmlns:a16="http://schemas.microsoft.com/office/drawing/2014/main" id="{B4CEB262-BE3F-EC6E-12AB-CFE38B44B428}"/>
              </a:ext>
            </a:extLst>
          </p:cNvPr>
          <p:cNvSpPr txBox="1"/>
          <p:nvPr/>
        </p:nvSpPr>
        <p:spPr>
          <a:xfrm>
            <a:off x="238174" y="2745268"/>
            <a:ext cx="448769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b="1" dirty="0">
                <a:ea typeface="+mn-lt"/>
                <a:cs typeface="+mn-lt"/>
              </a:rPr>
              <a:t>Web bookings generate the highest average booking value (~28.2K)</a:t>
            </a:r>
            <a:r>
              <a:rPr lang="en-US" dirty="0">
                <a:ea typeface="+mn-lt"/>
                <a:cs typeface="+mn-lt"/>
              </a:rPr>
              <a:t>, indicating more premium and higher-spending customers. </a:t>
            </a:r>
            <a:endParaRPr lang="en-US" dirty="0"/>
          </a:p>
          <a:p>
            <a:endParaRPr lang="en-US" dirty="0">
              <a:ea typeface="+mn-lt"/>
              <a:cs typeface="+mn-lt"/>
            </a:endParaRPr>
          </a:p>
          <a:p>
            <a:pPr>
              <a:buFont typeface="Arial"/>
              <a:buChar char="•"/>
            </a:pPr>
            <a:r>
              <a:rPr lang="en-US" b="1">
                <a:ea typeface="+mn-lt"/>
                <a:cs typeface="+mn-lt"/>
              </a:rPr>
              <a:t>Travel Agent bookings have lower value (~24.5K) despite high volume</a:t>
            </a:r>
            <a:r>
              <a:rPr lang="en-US">
                <a:ea typeface="+mn-lt"/>
                <a:cs typeface="+mn-lt"/>
              </a:rPr>
              <a:t>, suggesting they bring less profitable or more price-sensitive customers.</a:t>
            </a:r>
          </a:p>
          <a:p>
            <a:pPr marL="285750" indent="-285750" algn="l">
              <a:buFont typeface="Arial"/>
              <a:buChar char="•"/>
            </a:pPr>
            <a:endParaRPr lang="en-US" dirty="0"/>
          </a:p>
        </p:txBody>
      </p:sp>
    </p:spTree>
    <p:extLst>
      <p:ext uri="{BB962C8B-B14F-4D97-AF65-F5344CB8AC3E}">
        <p14:creationId xmlns:p14="http://schemas.microsoft.com/office/powerpoint/2010/main" val="376326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136173-2941-0AEF-41EE-2BC1229FF46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C3E9C9-7A27-D16E-4DC2-AB6ED9F60A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DC499A-84E9-06CC-0608-38FFBBFB5BD0}"/>
              </a:ext>
            </a:extLst>
          </p:cNvPr>
          <p:cNvSpPr>
            <a:spLocks noGrp="1"/>
          </p:cNvSpPr>
          <p:nvPr>
            <p:ph type="title"/>
          </p:nvPr>
        </p:nvSpPr>
        <p:spPr>
          <a:xfrm>
            <a:off x="793662" y="169216"/>
            <a:ext cx="10066122" cy="1537933"/>
          </a:xfrm>
        </p:spPr>
        <p:txBody>
          <a:bodyPr anchor="b">
            <a:normAutofit/>
          </a:bodyPr>
          <a:lstStyle/>
          <a:p>
            <a:r>
              <a:rPr lang="en-IN" b="1">
                <a:latin typeface="Times New Roman"/>
                <a:cs typeface="Times New Roman"/>
              </a:rPr>
              <a:t>Meaningful Trends in the Data</a:t>
            </a:r>
            <a:br>
              <a:rPr lang="en-IN" b="1">
                <a:latin typeface="Times New Roman"/>
                <a:cs typeface="Times New Roman"/>
              </a:rPr>
            </a:br>
            <a:r>
              <a:rPr lang="en-IN" sz="2400" b="1">
                <a:solidFill>
                  <a:schemeClr val="tx2"/>
                </a:solidFill>
                <a:latin typeface="Times New Roman"/>
                <a:cs typeface="Times New Roman"/>
              </a:rPr>
              <a:t>Average Booking Value Analysis</a:t>
            </a:r>
            <a:endParaRPr lang="en-IN" sz="2400" b="1">
              <a:solidFill>
                <a:schemeClr val="tx2"/>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E9DCDB77-8290-24E1-504F-C015F1D90E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4F3D6FC-8F9A-DECB-FF67-2238B91009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8A8510-8771-4984-ED65-542B8BDF63E2}"/>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CDA07F26-B11E-EF4B-322C-9158906EB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showing a number of purple bars&#10;&#10;AI-generated content may be incorrect.">
            <a:extLst>
              <a:ext uri="{FF2B5EF4-FFF2-40B4-BE49-F238E27FC236}">
                <a16:creationId xmlns:a16="http://schemas.microsoft.com/office/drawing/2014/main" id="{26F6DE3B-5F91-DC70-FD75-561FA063AFD7}"/>
              </a:ext>
            </a:extLst>
          </p:cNvPr>
          <p:cNvPicPr>
            <a:picLocks noChangeAspect="1"/>
          </p:cNvPicPr>
          <p:nvPr/>
        </p:nvPicPr>
        <p:blipFill>
          <a:blip r:embed="rId3"/>
          <a:stretch>
            <a:fillRect/>
          </a:stretch>
        </p:blipFill>
        <p:spPr>
          <a:xfrm>
            <a:off x="5198590" y="2387428"/>
            <a:ext cx="6006414" cy="3710117"/>
          </a:xfrm>
          <a:prstGeom prst="rect">
            <a:avLst/>
          </a:prstGeom>
        </p:spPr>
      </p:pic>
      <p:sp>
        <p:nvSpPr>
          <p:cNvPr id="5" name="TextBox 4">
            <a:extLst>
              <a:ext uri="{FF2B5EF4-FFF2-40B4-BE49-F238E27FC236}">
                <a16:creationId xmlns:a16="http://schemas.microsoft.com/office/drawing/2014/main" id="{E7217055-EEA1-D2A9-8FD0-8D32C5F031C5}"/>
              </a:ext>
            </a:extLst>
          </p:cNvPr>
          <p:cNvSpPr txBox="1"/>
          <p:nvPr/>
        </p:nvSpPr>
        <p:spPr>
          <a:xfrm>
            <a:off x="338311" y="2631311"/>
            <a:ext cx="448576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ea typeface="+mn-lt"/>
                <a:cs typeface="+mn-lt"/>
              </a:rPr>
              <a:t>Average booking value is almost uniform across all star ratings (~24.8K–25.2K)</a:t>
            </a:r>
            <a:r>
              <a:rPr lang="en-US">
                <a:ea typeface="+mn-lt"/>
                <a:cs typeface="+mn-lt"/>
              </a:rPr>
              <a:t>, showing minimal impact of star rating on spending behavior. </a:t>
            </a:r>
            <a:endParaRPr lang="en-US"/>
          </a:p>
          <a:p>
            <a:endParaRPr lang="en-US" dirty="0">
              <a:ea typeface="+mn-lt"/>
              <a:cs typeface="+mn-lt"/>
            </a:endParaRPr>
          </a:p>
          <a:p>
            <a:pPr marL="285750" indent="-285750">
              <a:buFont typeface="Arial"/>
              <a:buChar char="•"/>
            </a:pPr>
            <a:r>
              <a:rPr lang="en-US" b="1" dirty="0">
                <a:ea typeface="+mn-lt"/>
                <a:cs typeface="+mn-lt"/>
              </a:rPr>
              <a:t>3-star hotels have the highest average value (~25.2K)</a:t>
            </a:r>
            <a:r>
              <a:rPr lang="en-US" dirty="0">
                <a:ea typeface="+mn-lt"/>
                <a:cs typeface="+mn-lt"/>
              </a:rPr>
              <a:t>, slightly ahead of other categories, indicating balanced demand in mid-range properties.</a:t>
            </a:r>
            <a:endParaRPr lang="en-US"/>
          </a:p>
          <a:p>
            <a:pPr algn="l"/>
            <a:endParaRPr lang="en-US" dirty="0"/>
          </a:p>
        </p:txBody>
      </p:sp>
    </p:spTree>
    <p:extLst>
      <p:ext uri="{BB962C8B-B14F-4D97-AF65-F5344CB8AC3E}">
        <p14:creationId xmlns:p14="http://schemas.microsoft.com/office/powerpoint/2010/main" val="1364137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C1007F-4320-D313-B0F3-33A0EFC48D6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E6C6E1E-BFFF-3DBD-438C-1E2537B6D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389846-73A3-4DF6-5434-76F3743A4AF8}"/>
              </a:ext>
            </a:extLst>
          </p:cNvPr>
          <p:cNvSpPr>
            <a:spLocks noGrp="1"/>
          </p:cNvSpPr>
          <p:nvPr>
            <p:ph type="title"/>
          </p:nvPr>
        </p:nvSpPr>
        <p:spPr>
          <a:xfrm>
            <a:off x="793662" y="169216"/>
            <a:ext cx="10066122" cy="1537933"/>
          </a:xfrm>
        </p:spPr>
        <p:txBody>
          <a:bodyPr anchor="b">
            <a:normAutofit/>
          </a:bodyPr>
          <a:lstStyle/>
          <a:p>
            <a:r>
              <a:rPr lang="en-IN" b="1">
                <a:latin typeface="Times New Roman"/>
                <a:cs typeface="Times New Roman"/>
              </a:rPr>
              <a:t>Meaningful Trends in the Data</a:t>
            </a:r>
            <a:br>
              <a:rPr lang="en-IN" b="1">
                <a:latin typeface="Times New Roman"/>
                <a:cs typeface="Times New Roman"/>
              </a:rPr>
            </a:br>
            <a:r>
              <a:rPr lang="en-IN" sz="2400" b="1">
                <a:latin typeface="Times New Roman"/>
                <a:cs typeface="Times New Roman"/>
              </a:rPr>
              <a:t>Cancellation Rate Analysis</a:t>
            </a:r>
            <a:endParaRPr lang="en-IN" sz="24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0E68CE-5AD1-3A9E-49F6-24BB44D74F83}"/>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EF45EB6E-CD9D-F55E-09FA-010AA18BA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0B0C37-3523-E812-C153-5753D175D5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DD59B1F-0733-698D-238D-5D745C165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2EC559F-BF18-98C2-B190-9B8C5C98A41E}"/>
              </a:ext>
            </a:extLst>
          </p:cNvPr>
          <p:cNvPicPr>
            <a:picLocks noChangeAspect="1"/>
          </p:cNvPicPr>
          <p:nvPr/>
        </p:nvPicPr>
        <p:blipFill>
          <a:blip r:embed="rId3"/>
          <a:srcRect l="828" t="161" r="1656"/>
          <a:stretch>
            <a:fillRect/>
          </a:stretch>
        </p:blipFill>
        <p:spPr>
          <a:xfrm>
            <a:off x="5562600" y="2391824"/>
            <a:ext cx="5610229" cy="3613694"/>
          </a:xfrm>
          <a:prstGeom prst="rect">
            <a:avLst/>
          </a:prstGeom>
        </p:spPr>
      </p:pic>
      <p:sp>
        <p:nvSpPr>
          <p:cNvPr id="4" name="TextBox 3">
            <a:extLst>
              <a:ext uri="{FF2B5EF4-FFF2-40B4-BE49-F238E27FC236}">
                <a16:creationId xmlns:a16="http://schemas.microsoft.com/office/drawing/2014/main" id="{2B1C4875-AA9F-0457-B2E3-52BE7A09564C}"/>
              </a:ext>
            </a:extLst>
          </p:cNvPr>
          <p:cNvSpPr txBox="1"/>
          <p:nvPr/>
        </p:nvSpPr>
        <p:spPr>
          <a:xfrm>
            <a:off x="431131" y="2777289"/>
            <a:ext cx="4572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dirty="0"/>
              <a:t>Standard rooms have the highest cancellation rate (23.3%)</a:t>
            </a:r>
            <a:r>
              <a:rPr lang="en-US" dirty="0"/>
              <a:t>, indicating strong price sensitivity and higher booking uncertainty. </a:t>
            </a:r>
          </a:p>
          <a:p>
            <a:endParaRPr lang="en-US" dirty="0"/>
          </a:p>
          <a:p>
            <a:pPr>
              <a:buFont typeface=""/>
              <a:buChar char="•"/>
            </a:pPr>
            <a:r>
              <a:rPr lang="en-US" b="1"/>
              <a:t>Deluxe rooms are the most stable (16.0%)</a:t>
            </a:r>
            <a:r>
              <a:rPr lang="en-US"/>
              <a:t>, suggesting more committed customers and better booking reliability.</a:t>
            </a:r>
          </a:p>
          <a:p>
            <a:pPr algn="ctr"/>
            <a:endParaRPr lang="en-US"/>
          </a:p>
        </p:txBody>
      </p:sp>
    </p:spTree>
    <p:extLst>
      <p:ext uri="{BB962C8B-B14F-4D97-AF65-F5344CB8AC3E}">
        <p14:creationId xmlns:p14="http://schemas.microsoft.com/office/powerpoint/2010/main" val="806843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C9423A-C691-92C5-C685-00F62220850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EDB8C5-51DF-61B1-64F2-58EF813E2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FA08CA-DA8F-8354-3244-9B9AF47ECAA0}"/>
              </a:ext>
            </a:extLst>
          </p:cNvPr>
          <p:cNvSpPr>
            <a:spLocks noGrp="1"/>
          </p:cNvSpPr>
          <p:nvPr>
            <p:ph type="title"/>
          </p:nvPr>
        </p:nvSpPr>
        <p:spPr>
          <a:xfrm>
            <a:off x="793662" y="169216"/>
            <a:ext cx="10066122" cy="1537933"/>
          </a:xfrm>
        </p:spPr>
        <p:txBody>
          <a:bodyPr anchor="b">
            <a:normAutofit/>
          </a:bodyPr>
          <a:lstStyle/>
          <a:p>
            <a:r>
              <a:rPr lang="en-IN" b="1">
                <a:latin typeface="Times New Roman"/>
                <a:cs typeface="Times New Roman"/>
              </a:rPr>
              <a:t>Meaningful Trends in the Data</a:t>
            </a:r>
            <a:br>
              <a:rPr lang="en-IN" b="1">
                <a:latin typeface="Times New Roman"/>
                <a:cs typeface="Times New Roman"/>
              </a:rPr>
            </a:br>
            <a:r>
              <a:rPr lang="en-IN" sz="2400" b="1">
                <a:latin typeface="Times New Roman"/>
                <a:cs typeface="Times New Roman"/>
              </a:rPr>
              <a:t>Cancellation Rate Analysis</a:t>
            </a:r>
            <a:endParaRPr lang="en-IN" sz="24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CAAC45-EB27-CAEC-BE78-A241AD1DBACF}"/>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0FFA644-27E3-677A-0E2E-07C490324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11DA77-A86D-928A-1B37-D3CD055BDE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930DF04-6670-B331-3017-CEE741F04C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number of blue rectangular bars&#10;&#10;AI-generated content may be incorrect.">
            <a:extLst>
              <a:ext uri="{FF2B5EF4-FFF2-40B4-BE49-F238E27FC236}">
                <a16:creationId xmlns:a16="http://schemas.microsoft.com/office/drawing/2014/main" id="{A56F6024-B4ED-1D9A-DD86-469509A1F161}"/>
              </a:ext>
            </a:extLst>
          </p:cNvPr>
          <p:cNvPicPr>
            <a:picLocks noChangeAspect="1"/>
          </p:cNvPicPr>
          <p:nvPr/>
        </p:nvPicPr>
        <p:blipFill>
          <a:blip r:embed="rId3"/>
          <a:srcRect l="41" t="159" r="1138" b="1285"/>
          <a:stretch>
            <a:fillRect/>
          </a:stretch>
        </p:blipFill>
        <p:spPr>
          <a:xfrm>
            <a:off x="5328949" y="2391890"/>
            <a:ext cx="5788025" cy="3655532"/>
          </a:xfrm>
          <a:prstGeom prst="rect">
            <a:avLst/>
          </a:prstGeom>
        </p:spPr>
      </p:pic>
      <p:sp>
        <p:nvSpPr>
          <p:cNvPr id="4" name="TextBox 3">
            <a:extLst>
              <a:ext uri="{FF2B5EF4-FFF2-40B4-BE49-F238E27FC236}">
                <a16:creationId xmlns:a16="http://schemas.microsoft.com/office/drawing/2014/main" id="{37E5BCE4-1AE5-679A-A9B5-0646213988CC}"/>
              </a:ext>
            </a:extLst>
          </p:cNvPr>
          <p:cNvSpPr txBox="1"/>
          <p:nvPr/>
        </p:nvSpPr>
        <p:spPr>
          <a:xfrm>
            <a:off x="238174" y="2745268"/>
            <a:ext cx="4487698"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Travel Agents have the highest cancellation rate (27.9%)</a:t>
            </a:r>
            <a:r>
              <a:rPr lang="en-US" dirty="0">
                <a:ea typeface="+mn-lt"/>
                <a:cs typeface="+mn-lt"/>
              </a:rPr>
              <a:t>, indicating low booking commitment and higher “compare-and-hold” behavior.</a:t>
            </a:r>
          </a:p>
          <a:p>
            <a:pPr marL="285750" indent="-285750">
              <a:buFont typeface="Arial"/>
              <a:buChar char="•"/>
            </a:pPr>
            <a:endParaRPr lang="en-US"/>
          </a:p>
          <a:p>
            <a:pPr marL="285750" indent="-285750">
              <a:buFont typeface="Arial"/>
              <a:buChar char="•"/>
            </a:pPr>
            <a:r>
              <a:rPr lang="en-US" b="1">
                <a:ea typeface="+mn-lt"/>
                <a:cs typeface="+mn-lt"/>
              </a:rPr>
              <a:t>Web bookings are most stable (17.6%)</a:t>
            </a:r>
            <a:r>
              <a:rPr lang="en-US">
                <a:ea typeface="+mn-lt"/>
                <a:cs typeface="+mn-lt"/>
              </a:rPr>
              <a:t>, showing higher customer intent and stronger booking confirmation.</a:t>
            </a:r>
            <a:endParaRPr lang="en-US"/>
          </a:p>
          <a:p>
            <a:pPr algn="l"/>
            <a:endParaRPr lang="en-US" dirty="0"/>
          </a:p>
        </p:txBody>
      </p:sp>
    </p:spTree>
    <p:extLst>
      <p:ext uri="{BB962C8B-B14F-4D97-AF65-F5344CB8AC3E}">
        <p14:creationId xmlns:p14="http://schemas.microsoft.com/office/powerpoint/2010/main" val="2337479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07E1F5-CF94-9C61-AF67-6C6DFAA832F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7AEC02B-5027-D396-CBAD-FBF3F034C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E5F6F5-8602-DC16-59A8-2CED3F01C844}"/>
              </a:ext>
            </a:extLst>
          </p:cNvPr>
          <p:cNvSpPr>
            <a:spLocks noGrp="1"/>
          </p:cNvSpPr>
          <p:nvPr>
            <p:ph type="title"/>
          </p:nvPr>
        </p:nvSpPr>
        <p:spPr>
          <a:xfrm>
            <a:off x="793662" y="169216"/>
            <a:ext cx="10066122" cy="1537933"/>
          </a:xfrm>
        </p:spPr>
        <p:txBody>
          <a:bodyPr anchor="b">
            <a:normAutofit/>
          </a:bodyPr>
          <a:lstStyle/>
          <a:p>
            <a:r>
              <a:rPr lang="en-IN" b="1">
                <a:latin typeface="Times New Roman"/>
                <a:cs typeface="Times New Roman"/>
              </a:rPr>
              <a:t>Meaningful Trends in the Data</a:t>
            </a:r>
            <a:br>
              <a:rPr lang="en-IN" b="1">
                <a:latin typeface="Times New Roman"/>
                <a:cs typeface="Times New Roman"/>
              </a:rPr>
            </a:br>
            <a:r>
              <a:rPr lang="en-IN" sz="2400" b="1">
                <a:latin typeface="Times New Roman"/>
                <a:cs typeface="Times New Roman"/>
              </a:rPr>
              <a:t>Cancellation Rate Analysis</a:t>
            </a:r>
            <a:endParaRPr lang="en-IN" sz="24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B9DC2A-CD2D-7103-0693-85428F1A19F0}"/>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6FD6AAC4-21E5-E2DE-7747-173E9E4B7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9E39F8-D354-3F1E-FA05-ED7ED6D9A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A4890F9-7562-80EF-418C-A89B0EF21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aph of a number of orange rectangular bars&#10;&#10;AI-generated content may be incorrect.">
            <a:extLst>
              <a:ext uri="{FF2B5EF4-FFF2-40B4-BE49-F238E27FC236}">
                <a16:creationId xmlns:a16="http://schemas.microsoft.com/office/drawing/2014/main" id="{C16A89B6-C73A-3C3E-5D2A-5B7B4059063C}"/>
              </a:ext>
            </a:extLst>
          </p:cNvPr>
          <p:cNvPicPr>
            <a:picLocks noChangeAspect="1"/>
          </p:cNvPicPr>
          <p:nvPr/>
        </p:nvPicPr>
        <p:blipFill>
          <a:blip r:embed="rId3"/>
          <a:stretch>
            <a:fillRect/>
          </a:stretch>
        </p:blipFill>
        <p:spPr>
          <a:xfrm>
            <a:off x="5348674" y="2390132"/>
            <a:ext cx="5734822" cy="3682313"/>
          </a:xfrm>
          <a:prstGeom prst="rect">
            <a:avLst/>
          </a:prstGeom>
        </p:spPr>
      </p:pic>
      <p:sp>
        <p:nvSpPr>
          <p:cNvPr id="4" name="TextBox 3">
            <a:extLst>
              <a:ext uri="{FF2B5EF4-FFF2-40B4-BE49-F238E27FC236}">
                <a16:creationId xmlns:a16="http://schemas.microsoft.com/office/drawing/2014/main" id="{C59D26AF-BA04-8AD0-E0B2-43C39BAF3BF9}"/>
              </a:ext>
            </a:extLst>
          </p:cNvPr>
          <p:cNvSpPr txBox="1"/>
          <p:nvPr/>
        </p:nvSpPr>
        <p:spPr>
          <a:xfrm>
            <a:off x="260960" y="3042781"/>
            <a:ext cx="508347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a:t>5-star hotels have the highest cancellation rate (21.3%)</a:t>
            </a:r>
            <a:r>
              <a:rPr lang="en-US"/>
              <a:t>, showing that premium bookings are more flexible and prone to last-minute changes.</a:t>
            </a:r>
          </a:p>
          <a:p>
            <a:endParaRPr lang="en-US"/>
          </a:p>
          <a:p>
            <a:pPr>
              <a:buFont typeface=""/>
              <a:buChar char="•"/>
            </a:pPr>
            <a:r>
              <a:rPr lang="en-US" b="1" dirty="0"/>
              <a:t>2, 3, and 4-star hotels have almost similar cancellation rates (~20%)</a:t>
            </a:r>
            <a:r>
              <a:rPr lang="en-US" dirty="0"/>
              <a:t>, indicating that cancellations are not strongly dependent on hotel rating.</a:t>
            </a:r>
          </a:p>
          <a:p>
            <a:pPr algn="ctr"/>
            <a:endParaRPr lang="en-US"/>
          </a:p>
        </p:txBody>
      </p:sp>
    </p:spTree>
    <p:extLst>
      <p:ext uri="{BB962C8B-B14F-4D97-AF65-F5344CB8AC3E}">
        <p14:creationId xmlns:p14="http://schemas.microsoft.com/office/powerpoint/2010/main" val="3732920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B67BD0-2781-0FA7-59CD-0406CAECBC3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AB359A-38F3-7EBD-D4F6-399AF51D6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11F43C-AEAE-EB71-CD86-D41B096EBBBB}"/>
              </a:ext>
            </a:extLst>
          </p:cNvPr>
          <p:cNvSpPr>
            <a:spLocks noGrp="1"/>
          </p:cNvSpPr>
          <p:nvPr>
            <p:ph type="title"/>
          </p:nvPr>
        </p:nvSpPr>
        <p:spPr>
          <a:xfrm>
            <a:off x="793662" y="169216"/>
            <a:ext cx="10066122" cy="1537933"/>
          </a:xfrm>
        </p:spPr>
        <p:txBody>
          <a:bodyPr anchor="b">
            <a:normAutofit/>
          </a:bodyPr>
          <a:lstStyle/>
          <a:p>
            <a:r>
              <a:rPr lang="en-IN" b="1">
                <a:latin typeface="Times New Roman"/>
                <a:cs typeface="Times New Roman"/>
              </a:rPr>
              <a:t>Meaningful Trends in the Data</a:t>
            </a:r>
            <a:br>
              <a:rPr lang="en-IN" b="1">
                <a:latin typeface="Times New Roman"/>
                <a:cs typeface="Times New Roman"/>
              </a:rPr>
            </a:br>
            <a:r>
              <a:rPr lang="en-IN" sz="2400" b="1">
                <a:latin typeface="Times New Roman"/>
                <a:cs typeface="Times New Roman"/>
              </a:rPr>
              <a:t>Seasonal Trend</a:t>
            </a:r>
            <a:endParaRPr lang="en-IN" sz="24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55F2DD-77ED-A918-1068-3A7F3B03B108}"/>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E3ABEB7-8B0E-57CC-47DD-8F06025D28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81ED76F-3AA3-27EC-9D2E-13465935B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F6FD25E-6769-7381-D8D1-D6041C521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with green line and numbers&#10;&#10;AI-generated content may be incorrect.">
            <a:extLst>
              <a:ext uri="{FF2B5EF4-FFF2-40B4-BE49-F238E27FC236}">
                <a16:creationId xmlns:a16="http://schemas.microsoft.com/office/drawing/2014/main" id="{4417086C-6B06-21E7-4247-10F5F528370F}"/>
              </a:ext>
            </a:extLst>
          </p:cNvPr>
          <p:cNvPicPr>
            <a:picLocks noChangeAspect="1"/>
          </p:cNvPicPr>
          <p:nvPr/>
        </p:nvPicPr>
        <p:blipFill>
          <a:blip r:embed="rId3"/>
          <a:stretch>
            <a:fillRect/>
          </a:stretch>
        </p:blipFill>
        <p:spPr>
          <a:xfrm>
            <a:off x="5080429" y="2383696"/>
            <a:ext cx="5933818" cy="3573420"/>
          </a:xfrm>
          <a:prstGeom prst="rect">
            <a:avLst/>
          </a:prstGeom>
        </p:spPr>
      </p:pic>
      <p:sp>
        <p:nvSpPr>
          <p:cNvPr id="6" name="TextBox 5">
            <a:extLst>
              <a:ext uri="{FF2B5EF4-FFF2-40B4-BE49-F238E27FC236}">
                <a16:creationId xmlns:a16="http://schemas.microsoft.com/office/drawing/2014/main" id="{6A5AE1B4-CE76-B5C2-DE5E-2B5FA7C85E5A}"/>
              </a:ext>
            </a:extLst>
          </p:cNvPr>
          <p:cNvSpPr txBox="1"/>
          <p:nvPr/>
        </p:nvSpPr>
        <p:spPr>
          <a:xfrm>
            <a:off x="323589" y="2604370"/>
            <a:ext cx="444674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dirty="0"/>
              <a:t>April shows a clear booking spike (4494 bookings)</a:t>
            </a:r>
            <a:r>
              <a:rPr lang="en-US" dirty="0"/>
              <a:t>, indicating a strong seasonal or demand-driven peak compared to other months (~2100–2360 range). </a:t>
            </a:r>
          </a:p>
          <a:p>
            <a:endParaRPr lang="en-US" dirty="0"/>
          </a:p>
          <a:p>
            <a:pPr>
              <a:buFont typeface=""/>
              <a:buChar char="•"/>
            </a:pPr>
            <a:r>
              <a:rPr lang="en-US" b="1"/>
              <a:t>Most other months have stable booking volumes</a:t>
            </a:r>
            <a:r>
              <a:rPr lang="en-US"/>
              <a:t>, suggesting a consistent baseline demand throughout the year except for the April surge.</a:t>
            </a:r>
          </a:p>
          <a:p>
            <a:pPr algn="ctr"/>
            <a:endParaRPr lang="en-US"/>
          </a:p>
        </p:txBody>
      </p:sp>
    </p:spTree>
    <p:extLst>
      <p:ext uri="{BB962C8B-B14F-4D97-AF65-F5344CB8AC3E}">
        <p14:creationId xmlns:p14="http://schemas.microsoft.com/office/powerpoint/2010/main" val="347516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60876F-397A-02BB-159E-99C7CD47E2C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3CB44B-A5CD-F202-FC30-776C37FD1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98876F-BCE9-C46D-C940-A7820BDB2C19}"/>
              </a:ext>
            </a:extLst>
          </p:cNvPr>
          <p:cNvSpPr>
            <a:spLocks noGrp="1"/>
          </p:cNvSpPr>
          <p:nvPr>
            <p:ph type="title"/>
          </p:nvPr>
        </p:nvSpPr>
        <p:spPr>
          <a:xfrm>
            <a:off x="793662" y="169216"/>
            <a:ext cx="10066122" cy="1537933"/>
          </a:xfrm>
        </p:spPr>
        <p:txBody>
          <a:bodyPr anchor="b">
            <a:normAutofit/>
          </a:bodyPr>
          <a:lstStyle/>
          <a:p>
            <a:r>
              <a:rPr lang="en-IN" b="1">
                <a:latin typeface="Times New Roman"/>
                <a:cs typeface="Times New Roman"/>
              </a:rPr>
              <a:t>Meaningful Trends in the Data</a:t>
            </a:r>
            <a:br>
              <a:rPr lang="en-IN" b="1">
                <a:latin typeface="Times New Roman"/>
                <a:cs typeface="Times New Roman"/>
              </a:rPr>
            </a:br>
            <a:r>
              <a:rPr lang="en-IN" sz="2400" b="1">
                <a:latin typeface="Times New Roman"/>
                <a:cs typeface="Times New Roman"/>
              </a:rPr>
              <a:t>Seasonal Trend</a:t>
            </a:r>
            <a:endParaRPr lang="en-IN" sz="24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5C7FCB-D7D7-1B51-B7CE-72709BAAA4C3}"/>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E42F93A9-32D9-C525-DE93-313E5529A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15F63C-A266-EB99-2637-17A63BDAA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5B104BC-80F7-FD7F-BF33-B735954FB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with numbers and lines&#10;&#10;AI-generated content may be incorrect.">
            <a:extLst>
              <a:ext uri="{FF2B5EF4-FFF2-40B4-BE49-F238E27FC236}">
                <a16:creationId xmlns:a16="http://schemas.microsoft.com/office/drawing/2014/main" id="{7FE40B8D-6972-F39D-849A-BB685F55A13A}"/>
              </a:ext>
            </a:extLst>
          </p:cNvPr>
          <p:cNvPicPr>
            <a:picLocks noChangeAspect="1"/>
          </p:cNvPicPr>
          <p:nvPr/>
        </p:nvPicPr>
        <p:blipFill>
          <a:blip r:embed="rId3"/>
          <a:stretch>
            <a:fillRect/>
          </a:stretch>
        </p:blipFill>
        <p:spPr>
          <a:xfrm>
            <a:off x="5458468" y="2384466"/>
            <a:ext cx="5816171" cy="3582173"/>
          </a:xfrm>
          <a:prstGeom prst="rect">
            <a:avLst/>
          </a:prstGeom>
        </p:spPr>
      </p:pic>
      <p:sp>
        <p:nvSpPr>
          <p:cNvPr id="6" name="TextBox 5">
            <a:extLst>
              <a:ext uri="{FF2B5EF4-FFF2-40B4-BE49-F238E27FC236}">
                <a16:creationId xmlns:a16="http://schemas.microsoft.com/office/drawing/2014/main" id="{A7883EC2-710E-E3C4-A399-DD38A07B4787}"/>
              </a:ext>
            </a:extLst>
          </p:cNvPr>
          <p:cNvSpPr txBox="1"/>
          <p:nvPr/>
        </p:nvSpPr>
        <p:spPr>
          <a:xfrm>
            <a:off x="135699" y="2781822"/>
            <a:ext cx="503128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dirty="0"/>
              <a:t>February and March show the highest average booking value (~27.8K and ~27.3K)</a:t>
            </a:r>
            <a:r>
              <a:rPr lang="en-US" dirty="0"/>
              <a:t>, indicating peak spending during early-year travel demand.</a:t>
            </a:r>
          </a:p>
          <a:p>
            <a:endParaRPr lang="en-US"/>
          </a:p>
          <a:p>
            <a:pPr>
              <a:buFont typeface=""/>
              <a:buChar char="•"/>
            </a:pPr>
            <a:r>
              <a:rPr lang="en-US" b="1"/>
              <a:t>May and December have the lowest booking values (~23.1K–23.2K)</a:t>
            </a:r>
            <a:r>
              <a:rPr lang="en-US"/>
              <a:t>, suggesting more budget-conscious or off-peak travel behavior.</a:t>
            </a:r>
          </a:p>
          <a:p>
            <a:pPr algn="ctr"/>
            <a:endParaRPr lang="en-US"/>
          </a:p>
        </p:txBody>
      </p:sp>
    </p:spTree>
    <p:extLst>
      <p:ext uri="{BB962C8B-B14F-4D97-AF65-F5344CB8AC3E}">
        <p14:creationId xmlns:p14="http://schemas.microsoft.com/office/powerpoint/2010/main" val="333478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9670E1-E843-309C-BB91-460F0AB81C3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C1901B5-AE62-C4E3-EBAE-CB037E382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AE94CA-9DD6-F926-C72F-8EF7273159F0}"/>
              </a:ext>
            </a:extLst>
          </p:cNvPr>
          <p:cNvSpPr>
            <a:spLocks noGrp="1"/>
          </p:cNvSpPr>
          <p:nvPr>
            <p:ph type="title"/>
          </p:nvPr>
        </p:nvSpPr>
        <p:spPr>
          <a:xfrm>
            <a:off x="793662" y="169216"/>
            <a:ext cx="10066122" cy="1537933"/>
          </a:xfrm>
        </p:spPr>
        <p:txBody>
          <a:bodyPr anchor="b">
            <a:normAutofit/>
          </a:bodyPr>
          <a:lstStyle/>
          <a:p>
            <a:r>
              <a:rPr lang="en-IN" b="1">
                <a:latin typeface="Times New Roman"/>
                <a:cs typeface="Times New Roman"/>
              </a:rPr>
              <a:t>Meaningful Trends in the Data</a:t>
            </a:r>
            <a:br>
              <a:rPr lang="en-IN" b="1">
                <a:latin typeface="Times New Roman"/>
                <a:cs typeface="Times New Roman"/>
              </a:rPr>
            </a:br>
            <a:r>
              <a:rPr lang="en-IN" sz="2400" b="1">
                <a:latin typeface="Times New Roman"/>
                <a:cs typeface="Times New Roman"/>
              </a:rPr>
              <a:t>Seasonal Trend</a:t>
            </a:r>
            <a:endParaRPr lang="en-IN" sz="24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461562-417D-2B5B-605F-232CBAC534D7}"/>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FFADEB5-E620-003F-09F6-2143497B6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2DBED6E-478B-45D2-6A1E-6DF88AD73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6D59021-1CAF-732D-63AC-62498B6CB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with red lines and numbers&#10;&#10;AI-generated content may be incorrect.">
            <a:extLst>
              <a:ext uri="{FF2B5EF4-FFF2-40B4-BE49-F238E27FC236}">
                <a16:creationId xmlns:a16="http://schemas.microsoft.com/office/drawing/2014/main" id="{CB3D2DE1-A51C-B49F-563E-F61C709989FB}"/>
              </a:ext>
            </a:extLst>
          </p:cNvPr>
          <p:cNvPicPr>
            <a:picLocks noChangeAspect="1"/>
          </p:cNvPicPr>
          <p:nvPr/>
        </p:nvPicPr>
        <p:blipFill>
          <a:blip r:embed="rId3"/>
          <a:stretch>
            <a:fillRect/>
          </a:stretch>
        </p:blipFill>
        <p:spPr>
          <a:xfrm>
            <a:off x="5320355" y="2381122"/>
            <a:ext cx="5927640" cy="3671244"/>
          </a:xfrm>
          <a:prstGeom prst="rect">
            <a:avLst/>
          </a:prstGeom>
        </p:spPr>
      </p:pic>
      <p:sp>
        <p:nvSpPr>
          <p:cNvPr id="5" name="TextBox 4">
            <a:extLst>
              <a:ext uri="{FF2B5EF4-FFF2-40B4-BE49-F238E27FC236}">
                <a16:creationId xmlns:a16="http://schemas.microsoft.com/office/drawing/2014/main" id="{739F22C1-100B-4B19-361E-F604652E9917}"/>
              </a:ext>
            </a:extLst>
          </p:cNvPr>
          <p:cNvSpPr txBox="1"/>
          <p:nvPr/>
        </p:nvSpPr>
        <p:spPr>
          <a:xfrm>
            <a:off x="240082" y="2771384"/>
            <a:ext cx="508348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dirty="0"/>
              <a:t>July and August show the highest cancellation rates (~30% and ~28.8%)</a:t>
            </a:r>
            <a:r>
              <a:rPr lang="en-US" dirty="0"/>
              <a:t>, indicating peak seasonal instability during mid-year travel. </a:t>
            </a:r>
          </a:p>
          <a:p>
            <a:endParaRPr lang="en-US" dirty="0"/>
          </a:p>
          <a:p>
            <a:pPr>
              <a:buFont typeface=""/>
              <a:buChar char="•"/>
            </a:pPr>
            <a:r>
              <a:rPr lang="en-US" b="1"/>
              <a:t>November has the lowest cancellation rate (~15.9%)</a:t>
            </a:r>
            <a:r>
              <a:rPr lang="en-US"/>
              <a:t>, suggesting more committed bookings and stable travel plans during this period.</a:t>
            </a:r>
          </a:p>
          <a:p>
            <a:pPr algn="ctr"/>
            <a:endParaRPr lang="en-US"/>
          </a:p>
        </p:txBody>
      </p:sp>
    </p:spTree>
    <p:extLst>
      <p:ext uri="{BB962C8B-B14F-4D97-AF65-F5344CB8AC3E}">
        <p14:creationId xmlns:p14="http://schemas.microsoft.com/office/powerpoint/2010/main" val="4154183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5E37D9-DCE8-9A38-DB13-221FF2CCA0AD}"/>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3A2189-7D0D-FB2B-94AA-3483214B0133}"/>
              </a:ext>
            </a:extLst>
          </p:cNvPr>
          <p:cNvSpPr>
            <a:spLocks noGrp="1"/>
          </p:cNvSpPr>
          <p:nvPr>
            <p:ph type="title"/>
          </p:nvPr>
        </p:nvSpPr>
        <p:spPr>
          <a:xfrm>
            <a:off x="616489" y="745057"/>
            <a:ext cx="4282983" cy="1200361"/>
          </a:xfrm>
        </p:spPr>
        <p:txBody>
          <a:bodyPr anchor="b">
            <a:normAutofit fontScale="90000"/>
          </a:bodyPr>
          <a:lstStyle/>
          <a:p>
            <a:r>
              <a:rPr lang="en-IN" sz="3600" b="1">
                <a:latin typeface="Times New Roman"/>
                <a:cs typeface="Times New Roman"/>
              </a:rPr>
              <a:t>Correlation Between All Parameters</a:t>
            </a:r>
            <a:br>
              <a:rPr lang="en-IN" sz="3600" b="1">
                <a:latin typeface="Times New Roman"/>
                <a:cs typeface="Times New Roman"/>
              </a:rPr>
            </a:br>
            <a:endParaRPr lang="en-IN" sz="3600" b="1">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19AF5F8-6CB4-A154-ADBA-D577536FF044}"/>
              </a:ext>
            </a:extLst>
          </p:cNvPr>
          <p:cNvSpPr>
            <a:spLocks noGrp="1"/>
          </p:cNvSpPr>
          <p:nvPr>
            <p:ph idx="1"/>
          </p:nvPr>
        </p:nvSpPr>
        <p:spPr>
          <a:xfrm>
            <a:off x="645066" y="2031101"/>
            <a:ext cx="4282984" cy="3511943"/>
          </a:xfrm>
        </p:spPr>
        <p:txBody>
          <a:bodyPr vert="horz" lIns="91440" tIns="45720" rIns="91440" bIns="45720" rtlCol="0" anchor="ctr">
            <a:normAutofit/>
          </a:bodyPr>
          <a:lstStyle/>
          <a:p>
            <a:endParaRPr lang="en-US" sz="1800">
              <a:latin typeface="Times New Roman" panose="02020603050405020304" pitchFamily="18" charset="0"/>
              <a:cs typeface="Times New Roman" panose="02020603050405020304" pitchFamily="18" charset="0"/>
            </a:endParaRPr>
          </a:p>
          <a:p>
            <a:endParaRPr lang="en-US" sz="1800">
              <a:latin typeface="Times New Roman" panose="02020603050405020304" pitchFamily="18" charset="0"/>
              <a:cs typeface="Times New Roman" panose="02020603050405020304" pitchFamily="18" charset="0"/>
            </a:endParaRPr>
          </a:p>
          <a:p>
            <a:endParaRPr lang="en-IN" sz="1800">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4088F7BA-1045-9795-1445-7A14AE1EE224}"/>
              </a:ext>
            </a:extLst>
          </p:cNvPr>
          <p:cNvPicPr>
            <a:picLocks noChangeAspect="1"/>
          </p:cNvPicPr>
          <p:nvPr/>
        </p:nvPicPr>
        <p:blipFill>
          <a:blip r:embed="rId3"/>
          <a:stretch>
            <a:fillRect/>
          </a:stretch>
        </p:blipFill>
        <p:spPr>
          <a:xfrm>
            <a:off x="5835627" y="854675"/>
            <a:ext cx="5916530" cy="4901515"/>
          </a:xfrm>
          <a:prstGeom prst="rect">
            <a:avLst/>
          </a:prstGeom>
        </p:spPr>
      </p:pic>
      <p:sp>
        <p:nvSpPr>
          <p:cNvPr id="4" name="TextBox 3">
            <a:extLst>
              <a:ext uri="{FF2B5EF4-FFF2-40B4-BE49-F238E27FC236}">
                <a16:creationId xmlns:a16="http://schemas.microsoft.com/office/drawing/2014/main" id="{769F3CB8-B62A-9BC5-E7B0-4AEFA26C8033}"/>
              </a:ext>
            </a:extLst>
          </p:cNvPr>
          <p:cNvSpPr txBox="1"/>
          <p:nvPr/>
        </p:nvSpPr>
        <p:spPr>
          <a:xfrm>
            <a:off x="501041" y="2030260"/>
            <a:ext cx="509391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dirty="0"/>
              <a:t>Booking channel has the strongest (but still weak) relationship with booking value (0.28)</a:t>
            </a:r>
            <a:r>
              <a:rPr lang="en-US" dirty="0"/>
              <a:t>, indicating that certain channels tend to generate slightly higher-value bookings than others. </a:t>
            </a:r>
          </a:p>
          <a:p>
            <a:endParaRPr lang="en-US" dirty="0"/>
          </a:p>
          <a:p>
            <a:pPr>
              <a:buFont typeface=""/>
              <a:buChar char="•"/>
            </a:pPr>
            <a:r>
              <a:rPr lang="en-US" b="1"/>
              <a:t>Most variables show near-zero correlation with cancellations</a:t>
            </a:r>
            <a:r>
              <a:rPr lang="en-US"/>
              <a:t>, suggesting that factors like booking value, room type, star rating, and month alone are not strong predictors of cancellation behavior.</a:t>
            </a:r>
          </a:p>
          <a:p>
            <a:pPr algn="ctr"/>
            <a:endParaRPr lang="en-US"/>
          </a:p>
        </p:txBody>
      </p:sp>
    </p:spTree>
    <p:extLst>
      <p:ext uri="{BB962C8B-B14F-4D97-AF65-F5344CB8AC3E}">
        <p14:creationId xmlns:p14="http://schemas.microsoft.com/office/powerpoint/2010/main" val="1748695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CE192C-D900-A65F-F30F-F9A04276D6A9}"/>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FE40D1-4D8A-004E-D351-0E7AB97E6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7AA508-39E8-1396-425C-69F1F50FCB5D}"/>
              </a:ext>
            </a:extLst>
          </p:cNvPr>
          <p:cNvSpPr>
            <a:spLocks noGrp="1"/>
          </p:cNvSpPr>
          <p:nvPr>
            <p:ph type="title"/>
          </p:nvPr>
        </p:nvSpPr>
        <p:spPr>
          <a:xfrm>
            <a:off x="645064" y="618658"/>
            <a:ext cx="4282983" cy="1200361"/>
          </a:xfrm>
        </p:spPr>
        <p:txBody>
          <a:bodyPr anchor="b">
            <a:normAutofit fontScale="90000"/>
          </a:bodyPr>
          <a:lstStyle/>
          <a:p>
            <a:r>
              <a:rPr lang="en-IN" sz="3600" b="1">
                <a:latin typeface="Times New Roman"/>
                <a:cs typeface="Times New Roman"/>
              </a:rPr>
              <a:t>Correlation</a:t>
            </a:r>
            <a:br>
              <a:rPr lang="en-IN" sz="3600" b="1">
                <a:latin typeface="Times New Roman"/>
                <a:cs typeface="Times New Roman"/>
              </a:rPr>
            </a:br>
            <a:r>
              <a:rPr lang="en-IN" sz="2400" b="1">
                <a:latin typeface="Times New Roman"/>
                <a:cs typeface="Times New Roman"/>
              </a:rPr>
              <a:t>Booking Value vs Cancellation</a:t>
            </a:r>
            <a:br>
              <a:rPr lang="en-IN" sz="2400" b="1">
                <a:latin typeface="Times New Roman" panose="02020603050405020304" pitchFamily="18" charset="0"/>
                <a:cs typeface="Times New Roman" panose="02020603050405020304" pitchFamily="18" charset="0"/>
              </a:rPr>
            </a:br>
            <a:endParaRPr lang="en-IN" sz="3600" b="1">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CBBCD714-EDBA-2860-FB43-67044B121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4F464D-E975-896C-D530-7B39CEC5A7C8}"/>
              </a:ext>
            </a:extLst>
          </p:cNvPr>
          <p:cNvSpPr>
            <a:spLocks noGrp="1"/>
          </p:cNvSpPr>
          <p:nvPr>
            <p:ph idx="1"/>
          </p:nvPr>
        </p:nvSpPr>
        <p:spPr>
          <a:xfrm>
            <a:off x="645066" y="2031101"/>
            <a:ext cx="4282984" cy="3511943"/>
          </a:xfrm>
        </p:spPr>
        <p:txBody>
          <a:bodyPr vert="horz" lIns="91440" tIns="45720" rIns="91440" bIns="45720" rtlCol="0" anchor="ctr">
            <a:normAutofit/>
          </a:bodyPr>
          <a:lstStyle/>
          <a:p>
            <a:endParaRPr lang="en-US" sz="1800">
              <a:latin typeface="Times New Roman" panose="02020603050405020304" pitchFamily="18" charset="0"/>
              <a:cs typeface="Times New Roman" panose="02020603050405020304" pitchFamily="18" charset="0"/>
            </a:endParaRPr>
          </a:p>
          <a:p>
            <a:endParaRPr lang="en-US" sz="1800">
              <a:latin typeface="Times New Roman" panose="02020603050405020304" pitchFamily="18" charset="0"/>
              <a:cs typeface="Times New Roman" panose="02020603050405020304" pitchFamily="18" charset="0"/>
            </a:endParaRPr>
          </a:p>
          <a:p>
            <a:endParaRPr lang="en-IN" sz="1800">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693857F1-B56E-DDC1-2246-2088A60013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3660274-C4A8-B370-280B-22A448770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9B7E33B-D624-2A2C-14E3-5581AB8AB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heatmap&#10;&#10;AI-generated content may be incorrect.">
            <a:extLst>
              <a:ext uri="{FF2B5EF4-FFF2-40B4-BE49-F238E27FC236}">
                <a16:creationId xmlns:a16="http://schemas.microsoft.com/office/drawing/2014/main" id="{B248AABB-5C7A-75D1-5550-02DA4EB097BC}"/>
              </a:ext>
            </a:extLst>
          </p:cNvPr>
          <p:cNvPicPr>
            <a:picLocks noChangeAspect="1"/>
          </p:cNvPicPr>
          <p:nvPr/>
        </p:nvPicPr>
        <p:blipFill>
          <a:blip r:embed="rId3"/>
          <a:stretch>
            <a:fillRect/>
          </a:stretch>
        </p:blipFill>
        <p:spPr>
          <a:xfrm>
            <a:off x="6276063" y="1223163"/>
            <a:ext cx="5628018" cy="4178803"/>
          </a:xfrm>
          <a:prstGeom prst="rect">
            <a:avLst/>
          </a:prstGeom>
        </p:spPr>
      </p:pic>
      <p:sp>
        <p:nvSpPr>
          <p:cNvPr id="4" name="TextBox 3">
            <a:extLst>
              <a:ext uri="{FF2B5EF4-FFF2-40B4-BE49-F238E27FC236}">
                <a16:creationId xmlns:a16="http://schemas.microsoft.com/office/drawing/2014/main" id="{1AA67FF5-18C1-2DBD-27CA-6241B611B00E}"/>
              </a:ext>
            </a:extLst>
          </p:cNvPr>
          <p:cNvSpPr txBox="1"/>
          <p:nvPr/>
        </p:nvSpPr>
        <p:spPr>
          <a:xfrm>
            <a:off x="354904" y="2301658"/>
            <a:ext cx="515654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b="1"/>
              <a:t>Booking value has almost no impact on cancellations (correlation = -0.04)</a:t>
            </a:r>
            <a:r>
              <a:rPr lang="en-US"/>
              <a:t>, meaning high and low-value bookings are cancelled at similar rates. </a:t>
            </a:r>
          </a:p>
          <a:p>
            <a:endParaRPr lang="en-US" dirty="0"/>
          </a:p>
          <a:p>
            <a:pPr>
              <a:buFont typeface=""/>
              <a:buChar char="•"/>
            </a:pPr>
            <a:r>
              <a:rPr lang="en-US" b="1"/>
              <a:t>Price alone is not a useful predictor of cancellation behavior</a:t>
            </a:r>
            <a:r>
              <a:rPr lang="en-US"/>
              <a:t>, so other factors like channel, timing, or customer intent are more important.</a:t>
            </a:r>
          </a:p>
          <a:p>
            <a:pPr algn="ctr"/>
            <a:endParaRPr lang="en-US"/>
          </a:p>
        </p:txBody>
      </p:sp>
    </p:spTree>
    <p:extLst>
      <p:ext uri="{BB962C8B-B14F-4D97-AF65-F5344CB8AC3E}">
        <p14:creationId xmlns:p14="http://schemas.microsoft.com/office/powerpoint/2010/main" val="2858603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738</Words>
  <Application>Microsoft Office PowerPoint</Application>
  <PresentationFormat>Widescreen</PresentationFormat>
  <Paragraphs>75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Times New Roman</vt:lpstr>
      <vt:lpstr>Office Theme</vt:lpstr>
      <vt:lpstr>Hotel Booking Data Analysis: Customer Behaviour, Revenue &amp; Cancellation Insights</vt:lpstr>
      <vt:lpstr>Introduction</vt:lpstr>
      <vt:lpstr>Meaningful Trends in the Data Average Booking Value Analysis</vt:lpstr>
      <vt:lpstr>Meaningful Trends in the Data Average Booking Value Analysis</vt:lpstr>
      <vt:lpstr>Meaningful Trends in the Data Average Booking Value Analysis</vt:lpstr>
      <vt:lpstr>Meaningful Trends in the Data Cancellation Rate Analysis</vt:lpstr>
      <vt:lpstr>Meaningful Trends in the Data Cancellation Rate Analysis</vt:lpstr>
      <vt:lpstr>Meaningful Trends in the Data Cancellation Rate Analysis</vt:lpstr>
      <vt:lpstr>Meaningful Trends in the Data Seasonal Trend</vt:lpstr>
      <vt:lpstr>Meaningful Trends in the Data Seasonal Trend</vt:lpstr>
      <vt:lpstr>Meaningful Trends in the Data Seasonal Trend</vt:lpstr>
      <vt:lpstr>Correlation Between All Parameters </vt:lpstr>
      <vt:lpstr>Correlation Booking Value vs Cancellation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nupur pal</dc:creator>
  <cp:lastModifiedBy>ayush lohani</cp:lastModifiedBy>
  <cp:revision>48</cp:revision>
  <dcterms:created xsi:type="dcterms:W3CDTF">2025-12-16T10:06:22Z</dcterms:created>
  <dcterms:modified xsi:type="dcterms:W3CDTF">2026-04-04T11:56:20Z</dcterms:modified>
</cp:coreProperties>
</file>